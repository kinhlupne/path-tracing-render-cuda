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20"/>
  </p:notesMasterIdLst>
  <p:handoutMasterIdLst>
    <p:handoutMasterId r:id="rId21"/>
  </p:handoutMasterIdLst>
  <p:sldIdLst>
    <p:sldId id="275" r:id="rId2"/>
    <p:sldId id="257" r:id="rId3"/>
    <p:sldId id="265" r:id="rId4"/>
    <p:sldId id="276" r:id="rId5"/>
    <p:sldId id="277" r:id="rId6"/>
    <p:sldId id="280" r:id="rId7"/>
    <p:sldId id="286" r:id="rId8"/>
    <p:sldId id="281" r:id="rId9"/>
    <p:sldId id="287" r:id="rId10"/>
    <p:sldId id="282" r:id="rId11"/>
    <p:sldId id="283" r:id="rId12"/>
    <p:sldId id="278" r:id="rId13"/>
    <p:sldId id="288" r:id="rId14"/>
    <p:sldId id="289" r:id="rId15"/>
    <p:sldId id="290" r:id="rId16"/>
    <p:sldId id="291" r:id="rId17"/>
    <p:sldId id="279" r:id="rId18"/>
    <p:sldId id="269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Nguyen Xuan Khoi 20225022" initials="NXK2" lastIdx="1" clrIdx="0">
    <p:extLst>
      <p:ext uri="{19B8F6BF-5375-455C-9EA6-DF929625EA0E}">
        <p15:presenceInfo xmlns:p15="http://schemas.microsoft.com/office/powerpoint/2012/main" userId="S::Khoi.NX225022@sis.hust.edu.vn::8c7b9214-1d04-4a3c-acae-310898dc06d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4" autoAdjust="0"/>
    <p:restoredTop sz="83333" autoAdjust="0"/>
  </p:normalViewPr>
  <p:slideViewPr>
    <p:cSldViewPr snapToGrid="0">
      <p:cViewPr varScale="1">
        <p:scale>
          <a:sx n="70" d="100"/>
          <a:sy n="70" d="100"/>
        </p:scale>
        <p:origin x="183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29T22:55:56.070"/>
    </inkml:context>
    <inkml:brush xml:id="br0">
      <inkml:brushProperty name="width" value="0.2" units="cm"/>
      <inkml:brushProperty name="height" value="0.2" units="cm"/>
      <inkml:brushProperty name="color" value="#FFFFFF"/>
      <inkml:brushProperty name="ignorePressure" value="1"/>
    </inkml:brush>
  </inkml:definitions>
  <inkml:trace contextRef="#ctx0" brushRef="#br0">0 9,'0'-4,"0"-1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29T22:55:56.779"/>
    </inkml:context>
    <inkml:brush xml:id="br0">
      <inkml:brushProperty name="width" value="0.2" units="cm"/>
      <inkml:brushProperty name="height" value="0.2" units="cm"/>
      <inkml:brushProperty name="color" value="#FFFFFF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29T22:45:10.909"/>
    </inkml:context>
    <inkml:brush xml:id="br0">
      <inkml:brushProperty name="width" value="0.2" units="cm"/>
      <inkml:brushProperty name="height" value="0.2" units="cm"/>
      <inkml:brushProperty name="color" value="#FFFFFF"/>
      <inkml:brushProperty name="ignorePressure" value="1"/>
    </inkml:brush>
  </inkml:definitions>
  <inkml:trace contextRef="#ctx0" brushRef="#br0">1 1,'0'0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29T22:48:04.257"/>
    </inkml:context>
    <inkml:brush xml:id="br0">
      <inkml:brushProperty name="width" value="0.2" units="cm"/>
      <inkml:brushProperty name="height" value="0.2" units="cm"/>
      <inkml:brushProperty name="color" value="#FFFFFF"/>
      <inkml:brushProperty name="ignorePressure" value="1"/>
    </inkml:brush>
  </inkml:definitions>
  <inkml:trace contextRef="#ctx0" brushRef="#br0">6097 131,'-17'-1,"0"2,0 1,0 0,0 1,-21 6,-5 2,-1-2,-47 4,-6 1,30 5,54-14,-1 0,1-1,-1-1,-16 2,-16-4,32-1,0 1,-26 3,40-4,0 0,0 0,-1 0,1 0,0 0,0 0,0 0,-1 0,1 0,0 0,0 0,-1 0,1 0,0 0,0 0,0 1,-1-1,1 0,0 0,0 0,0 0,0 0,-1 1,1-1,0 0,0 0,0 0,0 0,0 1,0-1,0 0,-1 0,1 1,0-1,0 0,0 0,0 0,0 1,0-1,0 0,0 0,0 1,0-1,0 0,0 0,0 0,1 1,10 10,30 13,-33-20,14 9,-1 1,29 26,-35-31,-9-12,-6 1,0 1,0-1,0 1,0-1,0 1,-1-1,1 1,-1-1,1 1,-1 0,0-1,0 1,1 0,-1-1,0 1,-1-1,-8-10,-1 0,0 1,-1 0,0 1,-16-9,-71-40,78 47,0 3,0 0,0 2,-1 1,0 0,0 2,-1 0,-32 0,-59-12,63 4,-1 2,0 3,0 1,-67 3,78 14,41-11,-1 0,0 0,1 1,-1-1,0 0,1 1,-1-1,1 1,-1-1,1 0,-1 1,1-1,-1 1,1 0,-1-1,1 1,0-1,-1 1,1 0,0 0,0 0,0 0,0-1,1 1,-1 0,1-1,-1 1,0 0,1-1,-1 1,1-1,0 1,-1 0,1-1,-1 1,1-1,0 0,-1 1,1-1,0 0,0 1,-1-1,1 0,1 1,7 2,1-1,-1 0,0 0,12 0,27 7,251 54,-264-55,-35-8,0 0,0 0,0 0,0 0,0 0,0 0,0 0,0 0,0 0,0 0,-1 0,1 0,0 0,0 0,0 0,0 0,0 0,0 1,0-1,0 0,0 0,0 0,0 0,0 0,0 0,0 0,0 0,0 0,0 0,0 0,0 0,-1 0,1 0,0 1,0-1,0 0,0 0,0 0,0 0,0 0,0 0,0 0,1 0,-1 0,0 0,0 0,0 1,0-1,0 0,0 0,0 0,0 0,0 0,0 0,0 0,-23 2,-47-5,0-3,-82-18,81 11,-1 3,-80 0,99 9,15 0,-50 6,85-5,1 1,-1-1,0 1,1 0,-1 0,1 0,-1 1,1-1,-5 3,7-3,-1-1,1 0,0 0,-1 1,1-1,0 0,0 0,0 1,-1-1,1 0,0 1,0-1,0 0,0 1,-1-1,1 0,0 1,0-1,0 0,0 1,0-1,0 0,0 1,0-1,0 1,0-1,0 0,0 1,1 0,0 0,0 0,-1-1,1 1,0 0,0-1,0 1,0-1,0 1,0-1,-1 1,1-1,0 0,0 1,2-1,17 4,1-1,-1-1,0-1,41-2,-38 0,-1 0,1 2,34 5,-46-1,-19-1,-20 1,-35 0,0-3,-66-7,71-5,1-2,-101-37,33 10,19 6,-62-15,136 41,-1 1,0 2,-43 0,40 3,10 1,0 0,-33 6,50-5,0 1,0 0,1 1,0 0,-1 0,1 1,0 0,0 1,1 0,-12 9,-119 113,95-89,27-22,-1-1,-1-1,-32 21,-72 38,121-73,0 1,-1 0,1-1,0 1,0 0,-1-1,1 0,0 1,-1-1,1 0,-1 0,1 1,0-1,-1 0,1 0,-1-1,1 1,0 0,-1 0,1-1,0 1,-2-1,1-1,0 1,-1-1,1 1,0-1,1 0,-1 1,0-1,0 0,1-1,-1 1,-1-3,-2-5,0-2,0 1,-5-23,10 33,-7-31,6 24,-1-1,0 0,0 0,-5-10,5 16,1 0,-1 1,1 0,-1-1,0 1,0 0,0 0,0 0,0 0,0 0,0 0,-1 0,1 1,-1-1,0 1,1 0,-6-2,-53-11,-1 2,-122-6,176 18,-342-22,342 21,-241-25,171 8,57 11,0 2,-40-5,-267 7,168 6,116-1,1 2,-78 17,104-17,-51 8,-110 5,-70-14,167-4,70 2,0 1,1-1,-1 2,1-1,-1 1,-10 5,7-2,0-2,-23 5,7-6,-38-1,27-1,168-5,154-10,384-68,-647 80,0 1,0 1,0 0,0 1,0 2,0-1,-1 2,21 6,14 9,64 31,-69-28,39 20,-35-16,55 18,-92-38,-14-6,0 0,0 0,0 0,0 0,0 0,0 0,0 0,0 0,0 1,0-1,-1 0,1 0,0 0,0 0,0 0,0 0,0 0,0 0,0 0,0 0,0 0,0 0,0 0,0 0,0 0,0 0,0 0,0 0,0 1,0-1,0 0,0 0,0 0,0 0,0 0,0 0,0 0,0 0,0 0,0 0,0 0,0 0,0 0,0 1,0-1,0 0,0 0,0 0,0 0,0 0,0 0,0 0,0 0,0 0,0 0,0 0,0 0,0 0,0 0,0 0,0 0,0 1,1-1,-1 0,0 0,0 0,0 0,0 0,0 0,-29 1,-810-7,820 7,0 0,0 1,-30 7,44-5,18-2,25 0,-37-2,79 2,48 0,141 20,-84 9,376 41,-518-70,-3 2,0-3,0-1,0-2,72-13,-107 14,0-1,-1 0,1 0,-1 0,0-1,0 0,0 1,0-1,4-5,-7 7,0 1,-1-1,1 0,0 0,-1 0,1 1,-1-1,1 0,-1 0,0 0,1 0,-1 0,0 0,0 0,1 0,-1 0,0 0,0 0,0 0,0-1,-1 1,0-1,1 1,-1 0,0 0,0 0,0 0,0 0,0 0,0 0,0 0,0 0,0 1,0-1,0 0,-1 1,1-1,0 1,0-1,-1 1,0-1,-27-6,-1 1,1 1,-35-1,-23-4,-81-30,-4 0,10 20,259 16,340 6,383-4,-797 2,0 0,0-2,0-1,0-1,0 0,41-15,-45 12,0 1,0 0,0 2,0 0,24-1,100 3,-92 3,67-7,-6-4,-76 7,-28 2,-9 1,-25 0,-281 7,243-2,1 2,-114 30,169-35,-24 8,30-9,1-1,-1 1,1-1,0 1,-1 0,1-1,0 1,0 0,0 0,0 0,0 0,0 0,0 0,0 1,0-1,-1 2,2-3,0 1,0-1,0 1,0-1,0 1,0-1,1 1,-1-1,0 0,0 1,0-1,1 1,-1-1,0 0,0 1,1-1,-1 0,0 1,1-1,-1 0,0 1,1-1,-1 0,1 0,-1 1,0-1,1 0,-1 0,1 0,-1 0,1 0,-1 0,1 0,0 0,19 5,1-1,0-1,-1-1,1-1,25-2,-3 1,13 1,151-4,-192 0,0 0,-1 0,23-9,-24 7,1 0,0 1,23-3,224 4,-137 6,-101-4,0 2,-1 1,1 0,0 2,-1 1,27 9,-32-9,1-1,0-1,-1 0,1-2,21 1,-20-2,1 1,-1 1,0 1,21 5,62 29,-82-31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29T22:48:06.481"/>
    </inkml:context>
    <inkml:brush xml:id="br0">
      <inkml:brushProperty name="width" value="0.2" units="cm"/>
      <inkml:brushProperty name="height" value="0.2" units="cm"/>
      <inkml:brushProperty name="color" value="#FFFFFF"/>
      <inkml:brushProperty name="ignorePressure" value="1"/>
    </inkml:brush>
  </inkml:definitions>
  <inkml:trace contextRef="#ctx0" brushRef="#br0">220 792,'-15'-9,"0"0,0-1,1-1,-21-20,-46-55,76 79,0 0,0 0,1-1,0 1,0-1,1 0,0 0,1 0,0-1,0 1,0 0,0-10,1-3,1 1,0 0,7-40,-7 58,0-1,1 1,-1 0,1 0,0 0,-1 0,1 0,0 1,0-1,0 0,1 0,-1 1,0-1,2-1,-2 2,0 1,0 0,0-1,-1 1,1 0,0 0,0-1,0 1,0 0,0 0,-1 0,1 0,0 0,0 0,0 1,0-1,0 0,-1 0,1 0,0 1,0-1,0 1,-1-1,1 0,0 1,-1-1,1 1,0 0,-1-1,1 1,0 0,-1-1,1 1,-1 0,1-1,-1 1,0 0,1 1,8 12,0 1,-1 0,-1 1,0 0,-1 0,4 18,18 103,-27-134,-2-84,3 19,-4-362,2 413,-1 4,1 1,0-1,1 0,-1 1,1-1,1 1,3-12,-5 18,0 0,0-1,0 1,0-1,0 1,0 0,0-1,1 1,-1-1,0 1,0 0,0-1,1 1,-1 0,0-1,1 1,-1 0,0-1,0 1,1 0,-1 0,1 0,-1-1,0 1,1 0,-1 0,1 0,-1 0,0-1,1 1,-1 0,1 0,-1 0,0 0,1 0,-1 0,1 0,-1 0,1 1,-1-1,0 0,1 0,-1 0,1 0,-1 0,0 1,1-1,-1 0,0 0,1 1,-1-1,0 0,1 1,-1-1,0 0,0 1,1-1,-1 0,0 1,0-1,0 0,1 1,-1-1,0 1,0 0,14 32,-12-29,4 17,-1 0,4 41,-7-40,2-1,11 41,-14-60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6/30/2026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r>
              <a:rPr lang="en-US" dirty="0"/>
              <a:t> </a:t>
            </a:r>
            <a:r>
              <a:rPr lang="en-US" dirty="0" err="1"/>
              <a:t>đê</a:t>
            </a:r>
            <a:r>
              <a:rPr lang="en-US" dirty="0"/>
              <a:t>  </a:t>
            </a:r>
            <a:r>
              <a:rPr lang="en-US" dirty="0" err="1"/>
              <a:t>tà</a:t>
            </a:r>
            <a:r>
              <a:rPr lang="en-US" dirty="0"/>
              <a:t> </a:t>
            </a:r>
            <a:r>
              <a:rPr lang="en-US" dirty="0" err="1"/>
              <a:t>thầy</a:t>
            </a:r>
            <a:r>
              <a:rPr lang="en-US" dirty="0"/>
              <a:t> </a:t>
            </a:r>
            <a:r>
              <a:rPr lang="en-US" dirty="0" err="1"/>
              <a:t>gợi</a:t>
            </a:r>
            <a:r>
              <a:rPr lang="en-US" dirty="0"/>
              <a:t> ý,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dộ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thuwscc</a:t>
            </a:r>
            <a:r>
              <a:rPr lang="en-US" dirty="0"/>
              <a:t> </a:t>
            </a:r>
            <a:r>
              <a:rPr lang="en-US" dirty="0" err="1"/>
              <a:t>huyên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</a:t>
            </a:r>
            <a:r>
              <a:rPr lang="en-US" dirty="0" err="1"/>
              <a:t>mwusc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,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mơ</a:t>
            </a:r>
            <a:r>
              <a:rPr lang="en-US" dirty="0"/>
              <a:t> </a:t>
            </a:r>
            <a:r>
              <a:rPr lang="en-US" dirty="0" err="1"/>
              <a:t>hồ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,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qua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khí</a:t>
            </a:r>
            <a:r>
              <a:rPr lang="en-US" dirty="0"/>
              <a:t> </a:t>
            </a:r>
            <a:r>
              <a:rPr lang="en-US" dirty="0" err="1"/>
              <a:t>bắt</a:t>
            </a:r>
            <a:r>
              <a:rPr lang="en-US" dirty="0"/>
              <a:t> </a:t>
            </a:r>
            <a:r>
              <a:rPr lang="en-US" dirty="0" err="1"/>
              <a:t>dầu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. </a:t>
            </a:r>
            <a:r>
              <a:rPr lang="en-US" dirty="0" err="1"/>
              <a:t>Em</a:t>
            </a:r>
            <a:r>
              <a:rPr lang="en-US" dirty="0"/>
              <a:t>  </a:t>
            </a:r>
            <a:r>
              <a:rPr lang="en-US" dirty="0" err="1"/>
              <a:t>nghĩ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</a:t>
            </a:r>
            <a:r>
              <a:rPr lang="en-US" dirty="0" err="1"/>
              <a:t>st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, </a:t>
            </a:r>
            <a:r>
              <a:rPr lang="en-US" dirty="0" err="1"/>
              <a:t>thày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ngồi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code </a:t>
            </a:r>
            <a:r>
              <a:rPr lang="en-US" dirty="0" err="1"/>
              <a:t>cái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. 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ko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moojtj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tđó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nhảy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nói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khoareng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</a:t>
            </a:r>
            <a:r>
              <a:rPr lang="en-US" dirty="0" err="1"/>
              <a:t>rhooi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,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9856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r>
              <a:rPr lang="en-US" dirty="0"/>
              <a:t> </a:t>
            </a:r>
            <a:r>
              <a:rPr lang="en-US" dirty="0" err="1"/>
              <a:t>đê</a:t>
            </a:r>
            <a:r>
              <a:rPr lang="en-US" dirty="0"/>
              <a:t>  </a:t>
            </a:r>
            <a:r>
              <a:rPr lang="en-US" dirty="0" err="1"/>
              <a:t>tà</a:t>
            </a:r>
            <a:r>
              <a:rPr lang="en-US" dirty="0"/>
              <a:t> </a:t>
            </a:r>
            <a:r>
              <a:rPr lang="en-US" dirty="0" err="1"/>
              <a:t>thầy</a:t>
            </a:r>
            <a:r>
              <a:rPr lang="en-US" dirty="0"/>
              <a:t> </a:t>
            </a:r>
            <a:r>
              <a:rPr lang="en-US" dirty="0" err="1"/>
              <a:t>gợi</a:t>
            </a:r>
            <a:r>
              <a:rPr lang="en-US" dirty="0"/>
              <a:t> ý,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dộ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thuwscc</a:t>
            </a:r>
            <a:r>
              <a:rPr lang="en-US" dirty="0"/>
              <a:t> </a:t>
            </a:r>
            <a:r>
              <a:rPr lang="en-US" dirty="0" err="1"/>
              <a:t>huyên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</a:t>
            </a:r>
            <a:r>
              <a:rPr lang="en-US" dirty="0" err="1"/>
              <a:t>mwusc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,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mơ</a:t>
            </a:r>
            <a:r>
              <a:rPr lang="en-US" dirty="0"/>
              <a:t> </a:t>
            </a:r>
            <a:r>
              <a:rPr lang="en-US" dirty="0" err="1"/>
              <a:t>hồ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,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qua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khí</a:t>
            </a:r>
            <a:r>
              <a:rPr lang="en-US" dirty="0"/>
              <a:t> </a:t>
            </a:r>
            <a:r>
              <a:rPr lang="en-US" dirty="0" err="1"/>
              <a:t>bắt</a:t>
            </a:r>
            <a:r>
              <a:rPr lang="en-US" dirty="0"/>
              <a:t> </a:t>
            </a:r>
            <a:r>
              <a:rPr lang="en-US" dirty="0" err="1"/>
              <a:t>dầu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. </a:t>
            </a:r>
            <a:r>
              <a:rPr lang="en-US" dirty="0" err="1"/>
              <a:t>Em</a:t>
            </a:r>
            <a:r>
              <a:rPr lang="en-US" dirty="0"/>
              <a:t>  </a:t>
            </a:r>
            <a:r>
              <a:rPr lang="en-US" dirty="0" err="1"/>
              <a:t>nghĩ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</a:t>
            </a:r>
            <a:r>
              <a:rPr lang="en-US" dirty="0" err="1"/>
              <a:t>st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, </a:t>
            </a:r>
            <a:r>
              <a:rPr lang="en-US" dirty="0" err="1"/>
              <a:t>thày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ngồi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code </a:t>
            </a:r>
            <a:r>
              <a:rPr lang="en-US" dirty="0" err="1"/>
              <a:t>cái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. 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ko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moojtj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tđó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nhảy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nói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khoareng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</a:t>
            </a:r>
            <a:r>
              <a:rPr lang="en-US" dirty="0" err="1"/>
              <a:t>rhooi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,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2195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6026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RTE - &gt; LTE -&gt; </a:t>
            </a:r>
            <a:r>
              <a:rPr lang="en-US" dirty="0" err="1"/>
              <a:t>lấy</a:t>
            </a:r>
            <a:r>
              <a:rPr lang="en-US" dirty="0"/>
              <a:t> 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1426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7431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Đồ họa máy tính thương sử dụng mô hình lỗ kim, dễ mô phỏng nhưng trông rất nét -&gt; không thể có được với hệ thống thấu kính thực tế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vi-VN" dirty="0"/>
              <a:t>Cụ thể hơn là sư phân bố bức xạ đi vào vào đi ra khởi thấu kính là khác nhau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vi-VN" dirty="0"/>
              <a:t>Hiện tượng quang sai : vignettingh, pincushion distortion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vi-VN" dirty="0"/>
              <a:t>KHi máy ảnh thu nhận, do bởi sensor. phim truyền thống thì dùng phản ứng hóa học. còn máy ảnh hiện đại thì đếm số photon trong 1 khoảng thời gian ở 1 dải bước sóng nào đó - &gt; cần mô hình hóa chín hxasc quá trình đo bức xạ đó.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595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1466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159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91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5580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902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9874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03513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r>
              <a:rPr lang="en-US" dirty="0"/>
              <a:t> </a:t>
            </a:r>
            <a:r>
              <a:rPr lang="en-US" dirty="0" err="1"/>
              <a:t>đê</a:t>
            </a:r>
            <a:r>
              <a:rPr lang="en-US" dirty="0"/>
              <a:t>  </a:t>
            </a:r>
            <a:r>
              <a:rPr lang="en-US" dirty="0" err="1"/>
              <a:t>tà</a:t>
            </a:r>
            <a:r>
              <a:rPr lang="en-US" dirty="0"/>
              <a:t> </a:t>
            </a:r>
            <a:r>
              <a:rPr lang="en-US" dirty="0" err="1"/>
              <a:t>thầy</a:t>
            </a:r>
            <a:r>
              <a:rPr lang="en-US" dirty="0"/>
              <a:t> </a:t>
            </a:r>
            <a:r>
              <a:rPr lang="en-US" dirty="0" err="1"/>
              <a:t>gợi</a:t>
            </a:r>
            <a:r>
              <a:rPr lang="en-US" dirty="0"/>
              <a:t> ý,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dộ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thuwscc</a:t>
            </a:r>
            <a:r>
              <a:rPr lang="en-US" dirty="0"/>
              <a:t> </a:t>
            </a:r>
            <a:r>
              <a:rPr lang="en-US" dirty="0" err="1"/>
              <a:t>huyên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</a:t>
            </a:r>
            <a:r>
              <a:rPr lang="en-US" dirty="0" err="1"/>
              <a:t>mwusc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,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mơ</a:t>
            </a:r>
            <a:r>
              <a:rPr lang="en-US" dirty="0"/>
              <a:t> </a:t>
            </a:r>
            <a:r>
              <a:rPr lang="en-US" dirty="0" err="1"/>
              <a:t>hồ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,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qua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khí</a:t>
            </a:r>
            <a:r>
              <a:rPr lang="en-US" dirty="0"/>
              <a:t> </a:t>
            </a:r>
            <a:r>
              <a:rPr lang="en-US" dirty="0" err="1"/>
              <a:t>bắt</a:t>
            </a:r>
            <a:r>
              <a:rPr lang="en-US" dirty="0"/>
              <a:t> </a:t>
            </a:r>
            <a:r>
              <a:rPr lang="en-US" dirty="0" err="1"/>
              <a:t>dầu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. </a:t>
            </a:r>
            <a:r>
              <a:rPr lang="en-US" dirty="0" err="1"/>
              <a:t>Em</a:t>
            </a:r>
            <a:r>
              <a:rPr lang="en-US" dirty="0"/>
              <a:t>  </a:t>
            </a:r>
            <a:r>
              <a:rPr lang="en-US" dirty="0" err="1"/>
              <a:t>nghĩ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</a:t>
            </a:r>
            <a:r>
              <a:rPr lang="en-US" dirty="0" err="1"/>
              <a:t>st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, </a:t>
            </a:r>
            <a:r>
              <a:rPr lang="en-US" dirty="0" err="1"/>
              <a:t>thày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ngồi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code </a:t>
            </a:r>
            <a:r>
              <a:rPr lang="en-US" dirty="0" err="1"/>
              <a:t>cái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. 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ko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moojtj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tđó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nhảy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nói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khoareng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</a:t>
            </a:r>
            <a:r>
              <a:rPr lang="en-US" dirty="0" err="1"/>
              <a:t>rhooi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,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7825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khảo</a:t>
            </a:r>
            <a:r>
              <a:rPr lang="en-US" dirty="0"/>
              <a:t> </a:t>
            </a:r>
            <a:r>
              <a:rPr lang="en-US" dirty="0" err="1"/>
              <a:t>đê</a:t>
            </a:r>
            <a:r>
              <a:rPr lang="en-US" dirty="0"/>
              <a:t>  </a:t>
            </a:r>
            <a:r>
              <a:rPr lang="en-US" dirty="0" err="1"/>
              <a:t>tà</a:t>
            </a:r>
            <a:r>
              <a:rPr lang="en-US" dirty="0"/>
              <a:t> </a:t>
            </a:r>
            <a:r>
              <a:rPr lang="en-US" dirty="0" err="1"/>
              <a:t>thầy</a:t>
            </a:r>
            <a:r>
              <a:rPr lang="en-US" dirty="0"/>
              <a:t> </a:t>
            </a:r>
            <a:r>
              <a:rPr lang="en-US" dirty="0" err="1"/>
              <a:t>gợi</a:t>
            </a:r>
            <a:r>
              <a:rPr lang="en-US" dirty="0"/>
              <a:t> ý,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thấy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dộ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thuwscc</a:t>
            </a:r>
            <a:r>
              <a:rPr lang="en-US" dirty="0"/>
              <a:t> </a:t>
            </a:r>
            <a:r>
              <a:rPr lang="en-US" dirty="0" err="1"/>
              <a:t>huyên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chưa</a:t>
            </a:r>
            <a:r>
              <a:rPr lang="en-US" dirty="0"/>
              <a:t> </a:t>
            </a:r>
            <a:r>
              <a:rPr lang="en-US" dirty="0" err="1"/>
              <a:t>tới</a:t>
            </a:r>
            <a:r>
              <a:rPr lang="en-US" dirty="0"/>
              <a:t> </a:t>
            </a:r>
            <a:r>
              <a:rPr lang="en-US" dirty="0" err="1"/>
              <a:t>mwusc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,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rất</a:t>
            </a:r>
            <a:r>
              <a:rPr lang="en-US" dirty="0"/>
              <a:t> </a:t>
            </a:r>
            <a:r>
              <a:rPr lang="en-US" dirty="0" err="1"/>
              <a:t>mơ</a:t>
            </a:r>
            <a:r>
              <a:rPr lang="en-US" dirty="0"/>
              <a:t> </a:t>
            </a:r>
            <a:r>
              <a:rPr lang="en-US" dirty="0" err="1"/>
              <a:t>hồ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cứ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đi</a:t>
            </a:r>
            <a:r>
              <a:rPr lang="en-US" dirty="0"/>
              <a:t> .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đang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,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khoảng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qua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khí</a:t>
            </a:r>
            <a:r>
              <a:rPr lang="en-US" dirty="0"/>
              <a:t> </a:t>
            </a:r>
            <a:r>
              <a:rPr lang="en-US" dirty="0" err="1"/>
              <a:t>bắt</a:t>
            </a:r>
            <a:r>
              <a:rPr lang="en-US" dirty="0"/>
              <a:t> </a:t>
            </a:r>
            <a:r>
              <a:rPr lang="en-US" dirty="0" err="1"/>
              <a:t>dầu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thì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trực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. </a:t>
            </a:r>
            <a:r>
              <a:rPr lang="en-US" dirty="0" err="1"/>
              <a:t>Em</a:t>
            </a:r>
            <a:r>
              <a:rPr lang="en-US" dirty="0"/>
              <a:t>  </a:t>
            </a:r>
            <a:r>
              <a:rPr lang="en-US" dirty="0" err="1"/>
              <a:t>nghĩ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tôi</a:t>
            </a:r>
            <a:r>
              <a:rPr lang="en-US" dirty="0"/>
              <a:t> </a:t>
            </a:r>
            <a:r>
              <a:rPr lang="en-US" dirty="0" err="1"/>
              <a:t>st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học</a:t>
            </a:r>
            <a:r>
              <a:rPr lang="en-US" dirty="0"/>
              <a:t> , </a:t>
            </a:r>
            <a:r>
              <a:rPr lang="en-US" dirty="0" err="1"/>
              <a:t>thày</a:t>
            </a:r>
            <a:r>
              <a:rPr lang="en-US" dirty="0"/>
              <a:t>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ngồi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,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nên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code </a:t>
            </a:r>
            <a:r>
              <a:rPr lang="en-US" dirty="0" err="1"/>
              <a:t>cái</a:t>
            </a:r>
            <a:r>
              <a:rPr lang="en-US" dirty="0"/>
              <a:t> </a:t>
            </a:r>
            <a:r>
              <a:rPr lang="en-US" dirty="0" err="1"/>
              <a:t>gì</a:t>
            </a:r>
            <a:r>
              <a:rPr lang="en-US" dirty="0"/>
              <a:t> </a:t>
            </a:r>
            <a:r>
              <a:rPr lang="en-US" dirty="0" err="1"/>
              <a:t>đó</a:t>
            </a:r>
            <a:r>
              <a:rPr lang="en-US" dirty="0"/>
              <a:t> . 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biết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sẽ</a:t>
            </a:r>
            <a:r>
              <a:rPr lang="en-US" dirty="0"/>
              <a:t> ko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mà</a:t>
            </a:r>
            <a:r>
              <a:rPr lang="en-US" dirty="0"/>
              <a:t> </a:t>
            </a:r>
            <a:r>
              <a:rPr lang="en-US" dirty="0" err="1"/>
              <a:t>moojtj</a:t>
            </a:r>
            <a:r>
              <a:rPr lang="en-US" dirty="0"/>
              <a:t> </a:t>
            </a:r>
            <a:r>
              <a:rPr lang="en-US" dirty="0" err="1"/>
              <a:t>tay</a:t>
            </a:r>
            <a:r>
              <a:rPr lang="en-US" dirty="0"/>
              <a:t> 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hết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nhưng</a:t>
            </a:r>
            <a:r>
              <a:rPr lang="en-US" dirty="0"/>
              <a:t> </a:t>
            </a:r>
            <a:r>
              <a:rPr lang="en-US" dirty="0" err="1"/>
              <a:t>ít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thứ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đã</a:t>
            </a:r>
            <a:r>
              <a:rPr lang="en-US" dirty="0"/>
              <a:t> </a:t>
            </a:r>
            <a:r>
              <a:rPr lang="en-US" dirty="0" err="1"/>
              <a:t>đọc</a:t>
            </a:r>
            <a:r>
              <a:rPr lang="en-US" dirty="0"/>
              <a:t> ở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 </a:t>
            </a:r>
            <a:r>
              <a:rPr lang="en-US" dirty="0" err="1"/>
              <a:t>tđó</a:t>
            </a:r>
            <a:r>
              <a:rPr lang="en-US" dirty="0"/>
              <a:t> </a:t>
            </a:r>
            <a:r>
              <a:rPr lang="en-US" dirty="0" err="1"/>
              <a:t>để</a:t>
            </a:r>
            <a:r>
              <a:rPr lang="en-US" dirty="0"/>
              <a:t> </a:t>
            </a:r>
            <a:r>
              <a:rPr lang="en-US" dirty="0" err="1"/>
              <a:t>hiểu</a:t>
            </a:r>
            <a:r>
              <a:rPr lang="en-US" dirty="0"/>
              <a:t> </a:t>
            </a:r>
            <a:r>
              <a:rPr lang="en-US" dirty="0" err="1"/>
              <a:t>trước</a:t>
            </a:r>
            <a:r>
              <a:rPr lang="en-US" dirty="0"/>
              <a:t> </a:t>
            </a:r>
            <a:r>
              <a:rPr lang="en-US" dirty="0" err="1"/>
              <a:t>khi</a:t>
            </a:r>
            <a:r>
              <a:rPr lang="en-US" dirty="0"/>
              <a:t> </a:t>
            </a:r>
            <a:r>
              <a:rPr lang="en-US" dirty="0" err="1"/>
              <a:t>mình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nhảy</a:t>
            </a:r>
            <a:r>
              <a:rPr lang="en-US" dirty="0"/>
              <a:t> </a:t>
            </a:r>
            <a:r>
              <a:rPr lang="en-US" dirty="0" err="1"/>
              <a:t>sâu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nào</a:t>
            </a:r>
            <a:r>
              <a:rPr lang="en-US" dirty="0"/>
              <a:t>. </a:t>
            </a:r>
            <a:r>
              <a:rPr lang="en-US" dirty="0" err="1"/>
              <a:t>Vì</a:t>
            </a:r>
            <a:r>
              <a:rPr lang="en-US" dirty="0"/>
              <a:t> </a:t>
            </a:r>
            <a:r>
              <a:rPr lang="en-US" dirty="0" err="1"/>
              <a:t>nói</a:t>
            </a:r>
            <a:r>
              <a:rPr lang="en-US" dirty="0"/>
              <a:t> </a:t>
            </a:r>
            <a:r>
              <a:rPr lang="en-US" dirty="0" err="1"/>
              <a:t>chung</a:t>
            </a:r>
            <a:r>
              <a:rPr lang="en-US" dirty="0"/>
              <a:t> </a:t>
            </a:r>
            <a:r>
              <a:rPr lang="en-US" dirty="0" err="1"/>
              <a:t>cùng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cũng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chỉ</a:t>
            </a:r>
            <a:r>
              <a:rPr lang="en-US" dirty="0"/>
              <a:t> </a:t>
            </a:r>
            <a:r>
              <a:rPr lang="en-US" dirty="0" err="1"/>
              <a:t>tiếp</a:t>
            </a:r>
            <a:r>
              <a:rPr lang="en-US" dirty="0"/>
              <a:t> </a:t>
            </a:r>
            <a:r>
              <a:rPr lang="en-US" dirty="0" err="1"/>
              <a:t>cận</a:t>
            </a:r>
            <a:r>
              <a:rPr lang="en-US" dirty="0"/>
              <a:t> </a:t>
            </a:r>
            <a:r>
              <a:rPr lang="en-US" dirty="0" err="1"/>
              <a:t>đồ</a:t>
            </a:r>
            <a:r>
              <a:rPr lang="en-US" dirty="0"/>
              <a:t> </a:t>
            </a:r>
            <a:r>
              <a:rPr lang="en-US" dirty="0" err="1"/>
              <a:t>họa</a:t>
            </a:r>
            <a:r>
              <a:rPr lang="en-US" dirty="0"/>
              <a:t> </a:t>
            </a:r>
            <a:r>
              <a:rPr lang="en-US" dirty="0" err="1"/>
              <a:t>mới</a:t>
            </a:r>
            <a:r>
              <a:rPr lang="en-US" dirty="0"/>
              <a:t> </a:t>
            </a:r>
            <a:r>
              <a:rPr lang="en-US" dirty="0" err="1"/>
              <a:t>đc</a:t>
            </a:r>
            <a:r>
              <a:rPr lang="en-US" dirty="0"/>
              <a:t> </a:t>
            </a:r>
            <a:r>
              <a:rPr lang="en-US" dirty="0" err="1"/>
              <a:t>khoareng</a:t>
            </a:r>
            <a:r>
              <a:rPr lang="en-US" dirty="0"/>
              <a:t> 7 </a:t>
            </a:r>
            <a:r>
              <a:rPr lang="en-US" dirty="0" err="1"/>
              <a:t>tháng</a:t>
            </a:r>
            <a:r>
              <a:rPr lang="en-US" dirty="0"/>
              <a:t> </a:t>
            </a:r>
            <a:r>
              <a:rPr lang="en-US" dirty="0" err="1"/>
              <a:t>rhooi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,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2FC7A4-3D1B-482D-8C9D-7642A2CE307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2566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ustom Layou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59802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30FC03-A82E-4B34-AE4B-8AC40A0CD5B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49FB7E-C73B-452D-861A-6C73FF59E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5733BD-32DD-483E-A597-B70529CBD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Title 6">
            <a:extLst>
              <a:ext uri="{FF2B5EF4-FFF2-40B4-BE49-F238E27FC236}">
                <a16:creationId xmlns:a16="http://schemas.microsoft.com/office/drawing/2014/main" id="{44DCE4FD-DEE1-4DE9-A40E-616ACEB2FE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1: ………………………………………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90DFCEB3-810D-48E5-B7BA-1A6C924A64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35077" y="841247"/>
            <a:ext cx="8674100" cy="5303393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7547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6/30/2026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2" r:id="rId2"/>
    <p:sldLayoutId id="2147483673" r:id="rId3"/>
    <p:sldLayoutId id="2147483683" r:id="rId4"/>
    <p:sldLayoutId id="2147483679" r:id="rId5"/>
    <p:sldLayoutId id="2147483680" r:id="rId6"/>
    <p:sldLayoutId id="2147483681" r:id="rId7"/>
    <p:sldLayoutId id="2147483682" r:id="rId8"/>
    <p:sldLayoutId id="2147483678" r:id="rId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2.xml"/><Relationship Id="rId5" Type="http://schemas.openxmlformats.org/officeDocument/2006/relationships/image" Target="../media/image12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4.png"/><Relationship Id="rId7" Type="http://schemas.openxmlformats.org/officeDocument/2006/relationships/customXml" Target="../ink/ink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0" Type="http://schemas.openxmlformats.org/officeDocument/2006/relationships/image" Target="../media/image17.png"/><Relationship Id="rId4" Type="http://schemas.openxmlformats.org/officeDocument/2006/relationships/customXml" Target="../ink/ink3.xml"/><Relationship Id="rId9" Type="http://schemas.openxmlformats.org/officeDocument/2006/relationships/customXml" Target="../ink/ink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086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3">
            <a:extLst>
              <a:ext uri="{FF2B5EF4-FFF2-40B4-BE49-F238E27FC236}">
                <a16:creationId xmlns:a16="http://schemas.microsoft.com/office/drawing/2014/main" id="{67FB4AA9-E9AF-4CE0-A0DC-99D795289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3012" y="398419"/>
            <a:ext cx="2037225" cy="611594"/>
          </a:xfrm>
          <a:prstGeom prst="rect">
            <a:avLst/>
          </a:prstGeom>
        </p:spPr>
      </p:pic>
      <p:sp>
        <p:nvSpPr>
          <p:cNvPr id="11" name="Title 6">
            <a:extLst>
              <a:ext uri="{FF2B5EF4-FFF2-40B4-BE49-F238E27FC236}">
                <a16:creationId xmlns:a16="http://schemas.microsoft.com/office/drawing/2014/main" id="{FF8BDF70-CFA6-4031-86B7-31F910D8115D}"/>
              </a:ext>
            </a:extLst>
          </p:cNvPr>
          <p:cNvSpPr txBox="1">
            <a:spLocks/>
          </p:cNvSpPr>
          <p:nvPr/>
        </p:nvSpPr>
        <p:spPr>
          <a:xfrm>
            <a:off x="413012" y="2301963"/>
            <a:ext cx="7342482" cy="84879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Path-tracing renderer</a:t>
            </a:r>
          </a:p>
          <a:p>
            <a:r>
              <a:rPr lang="en-US" dirty="0"/>
              <a:t>in CUDA</a:t>
            </a:r>
          </a:p>
        </p:txBody>
      </p:sp>
      <p:sp>
        <p:nvSpPr>
          <p:cNvPr id="12" name="Title 6">
            <a:extLst>
              <a:ext uri="{FF2B5EF4-FFF2-40B4-BE49-F238E27FC236}">
                <a16:creationId xmlns:a16="http://schemas.microsoft.com/office/drawing/2014/main" id="{A4ACF486-B7D8-4A5A-B633-83527A2F99E2}"/>
              </a:ext>
            </a:extLst>
          </p:cNvPr>
          <p:cNvSpPr txBox="1">
            <a:spLocks/>
          </p:cNvSpPr>
          <p:nvPr/>
        </p:nvSpPr>
        <p:spPr>
          <a:xfrm>
            <a:off x="489212" y="4442706"/>
            <a:ext cx="7342482" cy="84879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sz="2800" b="0" dirty="0"/>
          </a:p>
          <a:p>
            <a:endParaRPr lang="en-US" sz="2800" b="0" dirty="0"/>
          </a:p>
          <a:p>
            <a:endParaRPr lang="en-US" sz="2800" b="0" dirty="0"/>
          </a:p>
        </p:txBody>
      </p:sp>
    </p:spTree>
    <p:extLst>
      <p:ext uri="{BB962C8B-B14F-4D97-AF65-F5344CB8AC3E}">
        <p14:creationId xmlns:p14="http://schemas.microsoft.com/office/powerpoint/2010/main" val="743172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r>
              <a:rPr lang="en-US" dirty="0"/>
              <a:t>   </a:t>
            </a:r>
          </a:p>
          <a:p>
            <a:pPr marL="514350" indent="-514350">
              <a:buAutoNum type="arabicPeriod"/>
            </a:pP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</a:p>
          <a:p>
            <a:pPr marL="514350" indent="-514350">
              <a:buAutoNum type="arabicPeriod"/>
            </a:pP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  <a:p>
            <a:pPr marL="514350" indent="-514350">
              <a:buAutoNum type="arabicPeriod"/>
            </a:pP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2364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1. </a:t>
            </a:r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vấn</a:t>
            </a:r>
            <a:r>
              <a:rPr lang="en-US" dirty="0"/>
              <a:t> </a:t>
            </a:r>
            <a:r>
              <a:rPr lang="en-US" dirty="0" err="1"/>
              <a:t>đề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5886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Rendering equation</a:t>
            </a:r>
          </a:p>
          <a:p>
            <a:pPr marL="514350" indent="-514350">
              <a:buAutoNum type="arabicPeriod"/>
            </a:pPr>
            <a:r>
              <a:rPr lang="en-US" dirty="0"/>
              <a:t>Camera</a:t>
            </a:r>
          </a:p>
          <a:p>
            <a:pPr marL="514350" indent="-514350">
              <a:buAutoNum type="arabicPeriod"/>
            </a:pPr>
            <a:r>
              <a:rPr lang="en-US" dirty="0"/>
              <a:t>Materials </a:t>
            </a:r>
          </a:p>
          <a:p>
            <a:pPr marL="514350" indent="-514350">
              <a:buAutoNum type="arabicPeriod"/>
            </a:pPr>
            <a:r>
              <a:rPr lang="en-US" dirty="0"/>
              <a:t>Sampling theory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6740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Rendering equation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133B6E-68CE-49A2-93A1-B227FB49AF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895" y="1367643"/>
            <a:ext cx="7022429" cy="4034937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DA8C4D5D-8B9B-46F8-840F-F89382D90BC8}"/>
                  </a:ext>
                </a:extLst>
              </p14:cNvPr>
              <p14:cNvContentPartPr/>
              <p14:nvPr/>
            </p14:nvContentPartPr>
            <p14:xfrm>
              <a:off x="3406020" y="2862120"/>
              <a:ext cx="360" cy="324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DA8C4D5D-8B9B-46F8-840F-F89382D90BC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020" y="2826120"/>
                <a:ext cx="72000" cy="7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B6938E24-B528-4502-8D35-735E38B6C452}"/>
                  </a:ext>
                </a:extLst>
              </p14:cNvPr>
              <p14:cNvContentPartPr/>
              <p14:nvPr/>
            </p14:nvContentPartPr>
            <p14:xfrm>
              <a:off x="3368220" y="2506800"/>
              <a:ext cx="360" cy="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B6938E24-B528-4502-8D35-735E38B6C452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332220" y="2470800"/>
                <a:ext cx="72000" cy="72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735081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Rendering equation</a:t>
            </a:r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F88127-463F-4A1D-A9A0-C6B5FB8C14F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198" b="15643"/>
          <a:stretch/>
        </p:blipFill>
        <p:spPr>
          <a:xfrm>
            <a:off x="234823" y="1284665"/>
            <a:ext cx="8772060" cy="432473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EDE22EF-DC4F-402E-AEBD-FCBD79921C79}"/>
                  </a:ext>
                </a:extLst>
              </p14:cNvPr>
              <p14:cNvContentPartPr/>
              <p14:nvPr/>
            </p14:nvContentPartPr>
            <p14:xfrm>
              <a:off x="5573091" y="2177057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EDE22EF-DC4F-402E-AEBD-FCBD79921C7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537451" y="2141417"/>
                <a:ext cx="72000" cy="7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AD194816-7F72-489D-AE12-22ECB4E0585A}"/>
              </a:ext>
            </a:extLst>
          </p:cNvPr>
          <p:cNvGrpSpPr/>
          <p:nvPr/>
        </p:nvGrpSpPr>
        <p:grpSpPr>
          <a:xfrm>
            <a:off x="6636660" y="1248600"/>
            <a:ext cx="2195280" cy="534600"/>
            <a:chOff x="6636660" y="1248600"/>
            <a:chExt cx="2195280" cy="534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E1B3D22-BA6A-42D5-8E4F-24392CBBE0F0}"/>
                    </a:ext>
                  </a:extLst>
                </p14:cNvPr>
                <p14:cNvContentPartPr/>
                <p14:nvPr/>
              </p14:nvContentPartPr>
              <p14:xfrm>
                <a:off x="6636660" y="1248600"/>
                <a:ext cx="2194920" cy="149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E1B3D22-BA6A-42D5-8E4F-24392CBBE0F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601020" y="1212960"/>
                  <a:ext cx="226656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2B8A1C79-72BF-4137-9E4E-0EAAA88DB590}"/>
                    </a:ext>
                  </a:extLst>
                </p14:cNvPr>
                <p14:cNvContentPartPr/>
                <p14:nvPr/>
              </p14:nvContentPartPr>
              <p14:xfrm>
                <a:off x="8752380" y="1498080"/>
                <a:ext cx="79560" cy="2851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B8A1C79-72BF-4137-9E4E-0EAAA88DB59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716740" y="1462080"/>
                  <a:ext cx="151200" cy="356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95610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Camera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6BDC49-C2C2-41E2-AAF8-D9672615A02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8953" r="21386"/>
          <a:stretch/>
        </p:blipFill>
        <p:spPr>
          <a:xfrm>
            <a:off x="1650219" y="1385041"/>
            <a:ext cx="5545238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782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Camera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22DD7C-E361-4E9E-AD34-BB73E3332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71" y="4396515"/>
            <a:ext cx="7786041" cy="170039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C3E8329-C7CB-43A4-AE36-DB458AE4FF6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1692" y="1301555"/>
            <a:ext cx="3906354" cy="239660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FBC11CC-85E7-41DE-9BC2-CCF1B2C6CBBA}"/>
              </a:ext>
            </a:extLst>
          </p:cNvPr>
          <p:cNvSpPr txBox="1"/>
          <p:nvPr/>
        </p:nvSpPr>
        <p:spPr>
          <a:xfrm>
            <a:off x="402771" y="3917902"/>
            <a:ext cx="4572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/>
              <a:t>Camera measurement equation :</a:t>
            </a:r>
          </a:p>
        </p:txBody>
      </p:sp>
    </p:spTree>
    <p:extLst>
      <p:ext uri="{BB962C8B-B14F-4D97-AF65-F5344CB8AC3E}">
        <p14:creationId xmlns:p14="http://schemas.microsoft.com/office/powerpoint/2010/main" val="3974929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Materials</a:t>
            </a:r>
          </a:p>
          <a:p>
            <a:pPr>
              <a:buFontTx/>
              <a:buChar char="-"/>
            </a:pPr>
            <a:r>
              <a:rPr lang="en-US" dirty="0"/>
              <a:t>Lambert</a:t>
            </a:r>
          </a:p>
          <a:p>
            <a:pPr>
              <a:buFontTx/>
              <a:buChar char="-"/>
            </a:pPr>
            <a:r>
              <a:rPr lang="en-US" dirty="0"/>
              <a:t>Metal</a:t>
            </a:r>
          </a:p>
          <a:p>
            <a:pPr>
              <a:buFontTx/>
              <a:buChar char="-"/>
            </a:pPr>
            <a:r>
              <a:rPr lang="en-US" dirty="0"/>
              <a:t>Dielectric </a:t>
            </a:r>
          </a:p>
          <a:p>
            <a:pPr marL="0" indent="0">
              <a:buNone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20788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2.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lí</a:t>
            </a:r>
            <a:r>
              <a:rPr lang="en-US" dirty="0"/>
              <a:t> </a:t>
            </a:r>
            <a:r>
              <a:rPr lang="en-US" dirty="0" err="1"/>
              <a:t>thuyết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4. Extra</a:t>
            </a:r>
          </a:p>
          <a:p>
            <a:pPr>
              <a:buFontTx/>
              <a:buChar char="-"/>
            </a:pPr>
            <a:r>
              <a:rPr lang="en-US" dirty="0"/>
              <a:t>Sampling theory</a:t>
            </a:r>
          </a:p>
          <a:p>
            <a:pPr>
              <a:buFontTx/>
              <a:buChar char="-"/>
            </a:pPr>
            <a:r>
              <a:rPr lang="en-US" dirty="0"/>
              <a:t>Spectral rendering</a:t>
            </a:r>
          </a:p>
          <a:p>
            <a:pPr>
              <a:buFontTx/>
              <a:buChar char="-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262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D9F72B-6BCD-41EF-A7B5-413E583759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54" y="1230439"/>
            <a:ext cx="8443692" cy="439712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EE3521B-2B5C-454B-B91C-FA898F5717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54" y="1230439"/>
            <a:ext cx="8443692" cy="439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4640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74C74A-528D-47BC-BC65-1C85D1513CA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424542" y="866771"/>
            <a:ext cx="8044542" cy="5124458"/>
          </a:xfrm>
        </p:spPr>
      </p:pic>
    </p:spTree>
    <p:extLst>
      <p:ext uri="{BB962C8B-B14F-4D97-AF65-F5344CB8AC3E}">
        <p14:creationId xmlns:p14="http://schemas.microsoft.com/office/powerpoint/2010/main" val="277861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47E94E85-C21F-4F57-8865-A638A9C0BB9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468086" y="1209199"/>
            <a:ext cx="8020330" cy="4690857"/>
          </a:xfrm>
        </p:spPr>
      </p:pic>
    </p:spTree>
    <p:extLst>
      <p:ext uri="{BB962C8B-B14F-4D97-AF65-F5344CB8AC3E}">
        <p14:creationId xmlns:p14="http://schemas.microsoft.com/office/powerpoint/2010/main" val="1916596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B60F3CF-FC3B-4397-82E5-7E5D3657666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E5338D-DE88-4253-B598-AE766404F5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154" y="1180905"/>
            <a:ext cx="8443692" cy="4496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413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3.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174C74A-528D-47BC-BC65-1C85D1513CA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424542" y="866771"/>
            <a:ext cx="8044542" cy="5124458"/>
          </a:xfrm>
        </p:spPr>
      </p:pic>
    </p:spTree>
    <p:extLst>
      <p:ext uri="{BB962C8B-B14F-4D97-AF65-F5344CB8AC3E}">
        <p14:creationId xmlns:p14="http://schemas.microsoft.com/office/powerpoint/2010/main" val="30145603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7101F79-2CBF-4392-B538-B0B5700DB4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F27CAA-32BA-4E6B-B8C0-1A481E08E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4. </a:t>
            </a:r>
            <a:r>
              <a:rPr lang="en-US" dirty="0" err="1"/>
              <a:t>Hướng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triển</a:t>
            </a:r>
            <a:r>
              <a:rPr lang="en-US" dirty="0"/>
              <a:t>   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563378-38F8-4CB3-AF99-2C56FCF5540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Bounding Volume Hierarchy</a:t>
            </a:r>
          </a:p>
          <a:p>
            <a:pPr marL="514350" indent="-514350">
              <a:buAutoNum type="arabicPeriod"/>
            </a:pPr>
            <a:r>
              <a:rPr lang="en-US" dirty="0"/>
              <a:t>1d 2d texture mapping</a:t>
            </a:r>
          </a:p>
          <a:p>
            <a:pPr marL="514350" indent="-514350">
              <a:buAutoNum type="arabicPeriod"/>
            </a:pPr>
            <a:r>
              <a:rPr lang="en-US" dirty="0"/>
              <a:t>Emission Material</a:t>
            </a:r>
          </a:p>
          <a:p>
            <a:pPr marL="514350" indent="-514350">
              <a:buAutoNum type="arabicPeriod"/>
            </a:pPr>
            <a:r>
              <a:rPr lang="en-US" dirty="0"/>
              <a:t>Volume rendering</a:t>
            </a:r>
          </a:p>
          <a:p>
            <a:pPr marL="514350" indent="-514350">
              <a:buAutoNum type="arabicPeriod"/>
            </a:pPr>
            <a:r>
              <a:rPr lang="en-US" dirty="0"/>
              <a:t>Monte Carlo</a:t>
            </a:r>
          </a:p>
          <a:p>
            <a:pPr marL="514350" indent="-51435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735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37B5C8-2095-4D2D-97FE-E4E8D8937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A0BE3B-158A-4EDF-80DC-E394A0D1600F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Title 10">
            <a:extLst>
              <a:ext uri="{FF2B5EF4-FFF2-40B4-BE49-F238E27FC236}">
                <a16:creationId xmlns:a16="http://schemas.microsoft.com/office/drawing/2014/main" id="{F78B3876-6ECC-4098-BDD1-C48CE4B42721}"/>
              </a:ext>
            </a:extLst>
          </p:cNvPr>
          <p:cNvSpPr txBox="1">
            <a:spLocks/>
          </p:cNvSpPr>
          <p:nvPr/>
        </p:nvSpPr>
        <p:spPr>
          <a:xfrm>
            <a:off x="4181094" y="3021991"/>
            <a:ext cx="4197975" cy="814017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sz="4800" dirty="0"/>
              <a:t>THANK YOU !</a:t>
            </a:r>
          </a:p>
        </p:txBody>
      </p:sp>
    </p:spTree>
    <p:extLst>
      <p:ext uri="{BB962C8B-B14F-4D97-AF65-F5344CB8AC3E}">
        <p14:creationId xmlns:p14="http://schemas.microsoft.com/office/powerpoint/2010/main" val="2830535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2054</TotalTime>
  <Words>1008</Words>
  <Application>Microsoft Office PowerPoint</Application>
  <PresentationFormat>On-screen Show (4:3)</PresentationFormat>
  <Paragraphs>92</Paragraphs>
  <Slides>18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Lato</vt:lpstr>
      <vt:lpstr>Office Theme</vt:lpstr>
      <vt:lpstr>PowerPoint Presentation</vt:lpstr>
      <vt:lpstr>PowerPoint Presentation</vt:lpstr>
      <vt:lpstr>Summary</vt:lpstr>
      <vt:lpstr>1. Đặt vấn đề</vt:lpstr>
      <vt:lpstr>2. Cơ sở lí thuyết  </vt:lpstr>
      <vt:lpstr>2. Cơ sở lí thuyết  </vt:lpstr>
      <vt:lpstr>2. Cơ sở lí thuyết  </vt:lpstr>
      <vt:lpstr>2. Cơ sở lí thuyết  </vt:lpstr>
      <vt:lpstr>2. Cơ sở lí thuyết  </vt:lpstr>
      <vt:lpstr>2. Cơ sở lí thuyết  </vt:lpstr>
      <vt:lpstr>2. Cơ sở lí thuyết  </vt:lpstr>
      <vt:lpstr>3. Kết quả </vt:lpstr>
      <vt:lpstr>3. Kết quả </vt:lpstr>
      <vt:lpstr>3. Kết quả </vt:lpstr>
      <vt:lpstr>3. Kết quả </vt:lpstr>
      <vt:lpstr>3. Kết quả </vt:lpstr>
      <vt:lpstr>4. Hướng phát triển   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KinhLup</cp:lastModifiedBy>
  <cp:revision>107</cp:revision>
  <dcterms:created xsi:type="dcterms:W3CDTF">2021-05-28T04:32:29Z</dcterms:created>
  <dcterms:modified xsi:type="dcterms:W3CDTF">2026-06-30T01:19:35Z</dcterms:modified>
</cp:coreProperties>
</file>